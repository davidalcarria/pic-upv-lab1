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95" r:id="rId3"/>
    <p:sldId id="290" r:id="rId4"/>
    <p:sldId id="292" r:id="rId5"/>
    <p:sldId id="297" r:id="rId6"/>
    <p:sldId id="298" r:id="rId7"/>
    <p:sldId id="293" r:id="rId8"/>
    <p:sldId id="288" r:id="rId9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38" autoAdjust="0"/>
    <p:restoredTop sz="95033" autoAdjust="0"/>
  </p:normalViewPr>
  <p:slideViewPr>
    <p:cSldViewPr>
      <p:cViewPr varScale="1">
        <p:scale>
          <a:sx n="66" d="100"/>
          <a:sy n="66" d="100"/>
        </p:scale>
        <p:origin x="54" y="11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3BBE-3704-D894-1C10-5488EE611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9BB04E2-F70F-42F7-9964-3D274C49F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664AEC-7D1D-9DDC-3B94-3AE8450C7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F62EEB-2D30-2026-D252-4267AF688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6079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9AA65-166B-474B-A6C9-9858D86A9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8158223-A8BA-05F6-464C-EC03A9FB8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ECB4DF-C329-8F47-9ECE-661B5B2BF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1B2276-A4E2-DFBF-0088-6997E86C9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2315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23B86-D15F-9CD8-C5EA-3EAAD8BAC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73881A-26A5-ECF9-C6F2-3DEFA77AE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B7AFC79-4973-3930-959B-AEF8810CF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45D0F3-6273-0338-FCDA-175B73D7C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7382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1.0. WAVEGUIDES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1.0. WAVEGUIDES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1.0. WAVEGUIDES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cccanvas-upv/pic-upv-lab1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NUL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61067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err="1">
                <a:latin typeface="Lucida Sans"/>
                <a:cs typeface="Lucida Sans"/>
              </a:rPr>
              <a:t>Lab</a:t>
            </a:r>
            <a:r>
              <a:rPr lang="es-ES" sz="3200" b="1" dirty="0">
                <a:latin typeface="Lucida Sans"/>
                <a:cs typeface="Lucida Sans"/>
              </a:rPr>
              <a:t> Book 1.0. </a:t>
            </a:r>
            <a:r>
              <a:rPr lang="es-ES" sz="3200" b="1" dirty="0" err="1">
                <a:latin typeface="Lucida Sans"/>
                <a:cs typeface="Lucida Sans"/>
              </a:rPr>
              <a:t>Waveguides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 err="1">
                <a:latin typeface="Arial"/>
                <a:cs typeface="Arial"/>
              </a:rPr>
              <a:t>Student</a:t>
            </a:r>
            <a:r>
              <a:rPr lang="es-ES" spc="165" dirty="0">
                <a:latin typeface="Arial"/>
                <a:cs typeface="Arial"/>
              </a:rPr>
              <a:t>: 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</a:t>
            </a:r>
            <a:r>
              <a:rPr lang="es-ES" dirty="0" err="1">
                <a:hlinkClick r:id="rId4"/>
              </a:rPr>
              <a:t>cccanvas-upv</a:t>
            </a:r>
            <a:r>
              <a:rPr lang="es-ES">
                <a:hlinkClick r:id="rId4"/>
              </a:rPr>
              <a:t>/pic-upv-lab1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 err="1">
                <a:solidFill>
                  <a:sysClr val="windowText" lastClr="000000"/>
                </a:solidFill>
              </a:rPr>
              <a:t>WAVEGUIDES_Student.ipynb</a:t>
            </a:r>
            <a:r>
              <a:rPr lang="en-US" kern="0" dirty="0">
                <a:solidFill>
                  <a:sysClr val="windowText" lastClr="000000"/>
                </a:solidFill>
              </a:rPr>
              <a:t> </a:t>
            </a:r>
          </a:p>
          <a:p>
            <a:pPr algn="just"/>
            <a:endParaRPr lang="en-US" sz="2000" b="1" i="1" u="sng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96" name="object 7">
            <a:extLst>
              <a:ext uri="{FF2B5EF4-FFF2-40B4-BE49-F238E27FC236}">
                <a16:creationId xmlns:a16="http://schemas.microsoft.com/office/drawing/2014/main" id="{BB459788-0671-D4BA-B6DB-A3544D24EA92}"/>
              </a:ext>
            </a:extLst>
          </p:cNvPr>
          <p:cNvSpPr/>
          <p:nvPr/>
        </p:nvSpPr>
        <p:spPr>
          <a:xfrm>
            <a:off x="902765" y="3422925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62">
            <a:extLst>
              <a:ext uri="{FF2B5EF4-FFF2-40B4-BE49-F238E27FC236}">
                <a16:creationId xmlns:a16="http://schemas.microsoft.com/office/drawing/2014/main" id="{13E0425E-CEDF-CBC4-B34B-0CC3951920EA}"/>
              </a:ext>
            </a:extLst>
          </p:cNvPr>
          <p:cNvSpPr/>
          <p:nvPr/>
        </p:nvSpPr>
        <p:spPr>
          <a:xfrm>
            <a:off x="1747061" y="3983757"/>
            <a:ext cx="76200" cy="986155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63">
            <a:extLst>
              <a:ext uri="{FF2B5EF4-FFF2-40B4-BE49-F238E27FC236}">
                <a16:creationId xmlns:a16="http://schemas.microsoft.com/office/drawing/2014/main" id="{FDE45797-C0E3-ACE0-F66B-057BDEDB9070}"/>
              </a:ext>
            </a:extLst>
          </p:cNvPr>
          <p:cNvSpPr txBox="1"/>
          <p:nvPr/>
        </p:nvSpPr>
        <p:spPr>
          <a:xfrm>
            <a:off x="1091131" y="4210910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  <a:endParaRPr sz="140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9" name="object 64">
            <a:extLst>
              <a:ext uri="{FF2B5EF4-FFF2-40B4-BE49-F238E27FC236}">
                <a16:creationId xmlns:a16="http://schemas.microsoft.com/office/drawing/2014/main" id="{ABAAA5DD-56CA-BF94-2180-F0866658B6B3}"/>
              </a:ext>
            </a:extLst>
          </p:cNvPr>
          <p:cNvSpPr/>
          <p:nvPr/>
        </p:nvSpPr>
        <p:spPr>
          <a:xfrm>
            <a:off x="1984805" y="3773445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65">
            <a:extLst>
              <a:ext uri="{FF2B5EF4-FFF2-40B4-BE49-F238E27FC236}">
                <a16:creationId xmlns:a16="http://schemas.microsoft.com/office/drawing/2014/main" id="{A1EF013C-5123-D9A7-DC76-FEFD731E96E2}"/>
              </a:ext>
            </a:extLst>
          </p:cNvPr>
          <p:cNvSpPr txBox="1"/>
          <p:nvPr/>
        </p:nvSpPr>
        <p:spPr>
          <a:xfrm>
            <a:off x="2504743" y="3532730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1" name="object 73">
            <a:extLst>
              <a:ext uri="{FF2B5EF4-FFF2-40B4-BE49-F238E27FC236}">
                <a16:creationId xmlns:a16="http://schemas.microsoft.com/office/drawing/2014/main" id="{4C5C0871-D9B5-E642-7661-FFBCAD75720B}"/>
              </a:ext>
            </a:extLst>
          </p:cNvPr>
          <p:cNvSpPr txBox="1"/>
          <p:nvPr/>
        </p:nvSpPr>
        <p:spPr>
          <a:xfrm>
            <a:off x="1984805" y="3983757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2" name="object 74">
            <a:extLst>
              <a:ext uri="{FF2B5EF4-FFF2-40B4-BE49-F238E27FC236}">
                <a16:creationId xmlns:a16="http://schemas.microsoft.com/office/drawing/2014/main" id="{10CC4DBA-05F4-4CDC-BA0E-6200AF622CA9}"/>
              </a:ext>
            </a:extLst>
          </p:cNvPr>
          <p:cNvSpPr txBox="1"/>
          <p:nvPr/>
        </p:nvSpPr>
        <p:spPr>
          <a:xfrm>
            <a:off x="3983988" y="4338253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1" name="object 7">
            <a:extLst>
              <a:ext uri="{FF2B5EF4-FFF2-40B4-BE49-F238E27FC236}">
                <a16:creationId xmlns:a16="http://schemas.microsoft.com/office/drawing/2014/main" id="{06801468-6F27-A16A-64E3-D7AD4B6B6B96}"/>
              </a:ext>
            </a:extLst>
          </p:cNvPr>
          <p:cNvSpPr/>
          <p:nvPr/>
        </p:nvSpPr>
        <p:spPr>
          <a:xfrm>
            <a:off x="7391400" y="3422925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64">
            <a:extLst>
              <a:ext uri="{FF2B5EF4-FFF2-40B4-BE49-F238E27FC236}">
                <a16:creationId xmlns:a16="http://schemas.microsoft.com/office/drawing/2014/main" id="{D9E5D738-CA47-1898-E0D8-DFBC514F5A50}"/>
              </a:ext>
            </a:extLst>
          </p:cNvPr>
          <p:cNvSpPr/>
          <p:nvPr/>
        </p:nvSpPr>
        <p:spPr>
          <a:xfrm>
            <a:off x="8473440" y="3773445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65">
            <a:extLst>
              <a:ext uri="{FF2B5EF4-FFF2-40B4-BE49-F238E27FC236}">
                <a16:creationId xmlns:a16="http://schemas.microsoft.com/office/drawing/2014/main" id="{74A4CAE1-BC33-1BCD-6F24-54F1DFA8AEDB}"/>
              </a:ext>
            </a:extLst>
          </p:cNvPr>
          <p:cNvSpPr txBox="1"/>
          <p:nvPr/>
        </p:nvSpPr>
        <p:spPr>
          <a:xfrm>
            <a:off x="8993378" y="3532730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6" name="object 73">
            <a:extLst>
              <a:ext uri="{FF2B5EF4-FFF2-40B4-BE49-F238E27FC236}">
                <a16:creationId xmlns:a16="http://schemas.microsoft.com/office/drawing/2014/main" id="{CC9D2269-0CA8-143F-4E45-F3AF594A2ED3}"/>
              </a:ext>
            </a:extLst>
          </p:cNvPr>
          <p:cNvSpPr txBox="1"/>
          <p:nvPr/>
        </p:nvSpPr>
        <p:spPr>
          <a:xfrm>
            <a:off x="8473440" y="3983757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7" name="object 74">
            <a:extLst>
              <a:ext uri="{FF2B5EF4-FFF2-40B4-BE49-F238E27FC236}">
                <a16:creationId xmlns:a16="http://schemas.microsoft.com/office/drawing/2014/main" id="{8A3332FF-25D4-1955-323F-BBD1D30324AC}"/>
              </a:ext>
            </a:extLst>
          </p:cNvPr>
          <p:cNvSpPr txBox="1"/>
          <p:nvPr/>
        </p:nvSpPr>
        <p:spPr>
          <a:xfrm>
            <a:off x="10472623" y="4338253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20" name="object 73">
            <a:extLst>
              <a:ext uri="{FF2B5EF4-FFF2-40B4-BE49-F238E27FC236}">
                <a16:creationId xmlns:a16="http://schemas.microsoft.com/office/drawing/2014/main" id="{C699977C-9138-F9B9-E43D-0CCB01AEB75F}"/>
              </a:ext>
            </a:extLst>
          </p:cNvPr>
          <p:cNvSpPr txBox="1"/>
          <p:nvPr/>
        </p:nvSpPr>
        <p:spPr>
          <a:xfrm>
            <a:off x="7391400" y="4690819"/>
            <a:ext cx="39061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lang="es-ES" sz="2350" dirty="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</a:pPr>
            <a:r>
              <a:rPr lang="es-ES" sz="1600" b="1" spc="-10" dirty="0" err="1">
                <a:latin typeface="Calibri"/>
                <a:cs typeface="Calibri"/>
              </a:rPr>
              <a:t>Slab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2" name="object 62">
            <a:extLst>
              <a:ext uri="{FF2B5EF4-FFF2-40B4-BE49-F238E27FC236}">
                <a16:creationId xmlns:a16="http://schemas.microsoft.com/office/drawing/2014/main" id="{04561701-4B4F-F208-98F6-2DAB5C1138D3}"/>
              </a:ext>
            </a:extLst>
          </p:cNvPr>
          <p:cNvSpPr/>
          <p:nvPr/>
        </p:nvSpPr>
        <p:spPr>
          <a:xfrm>
            <a:off x="8575910" y="3994221"/>
            <a:ext cx="56259" cy="694989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62">
            <a:extLst>
              <a:ext uri="{FF2B5EF4-FFF2-40B4-BE49-F238E27FC236}">
                <a16:creationId xmlns:a16="http://schemas.microsoft.com/office/drawing/2014/main" id="{CCA3B0D6-0C9E-B4A6-FA43-1AB5F1821674}"/>
              </a:ext>
            </a:extLst>
          </p:cNvPr>
          <p:cNvSpPr/>
          <p:nvPr/>
        </p:nvSpPr>
        <p:spPr>
          <a:xfrm>
            <a:off x="8233207" y="4689210"/>
            <a:ext cx="55008" cy="613272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63">
            <a:extLst>
              <a:ext uri="{FF2B5EF4-FFF2-40B4-BE49-F238E27FC236}">
                <a16:creationId xmlns:a16="http://schemas.microsoft.com/office/drawing/2014/main" id="{6394166D-0522-24AD-E666-39FE8A3FDC24}"/>
              </a:ext>
            </a:extLst>
          </p:cNvPr>
          <p:cNvSpPr txBox="1"/>
          <p:nvPr/>
        </p:nvSpPr>
        <p:spPr>
          <a:xfrm>
            <a:off x="8351994" y="4887127"/>
            <a:ext cx="674053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dirty="0" err="1">
                <a:latin typeface="Calibri"/>
                <a:cs typeface="Calibri"/>
              </a:rPr>
              <a:t>h_slab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22" name="object 63">
            <a:extLst>
              <a:ext uri="{FF2B5EF4-FFF2-40B4-BE49-F238E27FC236}">
                <a16:creationId xmlns:a16="http://schemas.microsoft.com/office/drawing/2014/main" id="{B589EB7D-B26E-4239-A5C2-F96DBBE82162}"/>
              </a:ext>
            </a:extLst>
          </p:cNvPr>
          <p:cNvSpPr txBox="1"/>
          <p:nvPr/>
        </p:nvSpPr>
        <p:spPr>
          <a:xfrm>
            <a:off x="8706378" y="3990085"/>
            <a:ext cx="138017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spc="-10" dirty="0" err="1">
                <a:latin typeface="Calibri"/>
                <a:cs typeface="Calibri"/>
              </a:rPr>
              <a:t>h_core</a:t>
            </a:r>
            <a:r>
              <a:rPr lang="es-ES" sz="1400" spc="-10" dirty="0">
                <a:latin typeface="Calibri"/>
                <a:cs typeface="Calibri"/>
              </a:rPr>
              <a:t> 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D9AFBE-EF33-9078-9CE3-5C8B079B0C36}"/>
              </a:ext>
            </a:extLst>
          </p:cNvPr>
          <p:cNvSpPr txBox="1"/>
          <p:nvPr/>
        </p:nvSpPr>
        <p:spPr>
          <a:xfrm>
            <a:off x="9306491" y="5257071"/>
            <a:ext cx="1980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shallow</a:t>
            </a:r>
            <a:r>
              <a:rPr lang="en-US" dirty="0"/>
              <a:t> waveguide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6B5D8-2D70-3E7A-336D-AF55EC49DEB8}"/>
              </a:ext>
            </a:extLst>
          </p:cNvPr>
          <p:cNvSpPr txBox="1"/>
          <p:nvPr/>
        </p:nvSpPr>
        <p:spPr>
          <a:xfrm>
            <a:off x="2969899" y="5257071"/>
            <a:ext cx="215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</p:txBody>
      </p:sp>
    </p:spTree>
    <p:extLst>
      <p:ext uri="{BB962C8B-B14F-4D97-AF65-F5344CB8AC3E}">
        <p14:creationId xmlns:p14="http://schemas.microsoft.com/office/powerpoint/2010/main" val="473922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Convergence tests</a:t>
            </a:r>
            <a:br>
              <a:rPr lang="en-US" sz="2500" dirty="0"/>
            </a:br>
            <a:r>
              <a:rPr lang="nl-NL" b="0" dirty="0"/>
              <a:t>DE waveguide, w = 1.2 µm, neff_TE0, wvl 1.55 µm. 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67C6D40-33EE-D9BE-7F58-8D96221D0D59}"/>
              </a:ext>
            </a:extLst>
          </p:cNvPr>
          <p:cNvSpPr/>
          <p:nvPr/>
        </p:nvSpPr>
        <p:spPr>
          <a:xfrm>
            <a:off x="609441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814CDD6-2B59-8488-4EB8-82801B4D3F22}"/>
              </a:ext>
            </a:extLst>
          </p:cNvPr>
          <p:cNvSpPr txBox="1"/>
          <p:nvPr/>
        </p:nvSpPr>
        <p:spPr>
          <a:xfrm>
            <a:off x="609441" y="4860334"/>
            <a:ext cx="11199971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Viendo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primera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gráfica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donde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muestran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n_eff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dependiendo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resolución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obtenemos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valores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casi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constantes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partir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50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resolución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Sin embargo, para que no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cueste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tanto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computacionalmente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escogemos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valor de 20.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Luego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valor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fija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calcula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dependencia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n_eff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max grid scaling.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Ahora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obtiene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 valor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casi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constante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partir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1.4. Para no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complicarnos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mucho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elegimos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valor del medio,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caso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1.5.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Por tanto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concluimos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con los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valores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ideales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resolución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20 y de max grid 1.5.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29F2FF9-FEB4-7AA3-B3B4-EFA9CFA0E230}"/>
              </a:ext>
            </a:extLst>
          </p:cNvPr>
          <p:cNvSpPr/>
          <p:nvPr/>
        </p:nvSpPr>
        <p:spPr>
          <a:xfrm>
            <a:off x="6322853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E1BD20E-1902-40FE-ADCB-CC78EC696F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7303" y="1618138"/>
            <a:ext cx="3890834" cy="302620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30C802A-92C9-416C-8A7C-BD12FB968F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0076" y="1573793"/>
            <a:ext cx="4059631" cy="311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0AC3D-36B7-D786-3825-B4DD6EADD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AA2E789-F7AE-F068-274C-E0F13A22DB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Width dependence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n-US" b="0" dirty="0"/>
              <a:t>Width 0.6 - 1.6 µm (step 0.1 µm) – Wavelength 1.55 µm 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3AEAD01B-7604-8009-5694-A556497AEF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96E3846-1BD2-4F23-48AA-C7AF2A1EE6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32C0E2B-75B6-4768-A4C7-F165A264DA0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0.1. MODESOLVER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2A62DD6-5488-72A1-9926-0CAEE59089A9}"/>
              </a:ext>
            </a:extLst>
          </p:cNvPr>
          <p:cNvSpPr txBox="1"/>
          <p:nvPr/>
        </p:nvSpPr>
        <p:spPr>
          <a:xfrm>
            <a:off x="609441" y="4860334"/>
            <a:ext cx="11199971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valores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cross-section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valores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óptmos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calculados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anteriormente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obtiene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siguiente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gráfica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dependencia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entre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n_eff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width.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Los dos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primeros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independientemente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valor del width. Sin embargo, los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otros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solo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partir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ciertos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valores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El mode 2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propagará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width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supere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los 1.25 um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modo 3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hará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mismo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pero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valores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mayores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1.6 um.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BC7D187-267A-ADD4-764C-D3820B8ED302}"/>
              </a:ext>
            </a:extLst>
          </p:cNvPr>
          <p:cNvSpPr/>
          <p:nvPr/>
        </p:nvSpPr>
        <p:spPr>
          <a:xfrm>
            <a:off x="609441" y="1418373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EF5BFDA-8EC1-8C73-A932-F36C4DB93C73}"/>
              </a:ext>
            </a:extLst>
          </p:cNvPr>
          <p:cNvSpPr txBox="1"/>
          <p:nvPr/>
        </p:nvSpPr>
        <p:spPr>
          <a:xfrm>
            <a:off x="2286000" y="2671278"/>
            <a:ext cx="77185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plot here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CD6D3B4-8429-410C-A7AB-10AD9F08F5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5413" y="1619029"/>
            <a:ext cx="5201174" cy="302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117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DA0F9-B230-D9FC-3CE7-03BD08CF5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394400B4-EE16-8E85-AB54-E82FE3B29345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685800" y="408883"/>
                <a:ext cx="10994410" cy="107125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sz="2500" dirty="0"/>
                  <a:t>Learning outcome #3 – Waveguide compact model</a:t>
                </a:r>
                <a:br>
                  <a:rPr lang="en-US" sz="2500" spc="-5" dirty="0">
                    <a:latin typeface="+mj-lt"/>
                    <a:cs typeface="Lucida Sans"/>
                  </a:rPr>
                </a:br>
                <a:r>
                  <a:rPr lang="en-US" b="0" dirty="0"/>
                  <a:t>Let’s model the waveguide using a second order polynomial: </a:t>
                </a:r>
                <a:br>
                  <a:rPr lang="en-US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>
                  <a:rPr lang="en-US" b="0" dirty="0"/>
                </a:br>
                <a:endParaRPr lang="en-US" sz="2500" b="0" dirty="0">
                  <a:latin typeface="+mj-lt"/>
                  <a:cs typeface="Lucida Sans"/>
                </a:endParaRPr>
              </a:p>
            </p:txBody>
          </p:sp>
        </mc:Choice>
        <mc:Fallback xmlns="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394400B4-EE16-8E85-AB54-E82FE3B2934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5800" y="408883"/>
                <a:ext cx="10994410" cy="1071255"/>
              </a:xfrm>
              <a:prstGeom prst="rect">
                <a:avLst/>
              </a:prstGeom>
              <a:blipFill>
                <a:blip r:embed="rId3"/>
                <a:stretch>
                  <a:fillRect l="-1664" t="-7386" b="-454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3" name="Gráfico 82">
            <a:extLst>
              <a:ext uri="{FF2B5EF4-FFF2-40B4-BE49-F238E27FC236}">
                <a16:creationId xmlns:a16="http://schemas.microsoft.com/office/drawing/2014/main" id="{4D53B68D-17ED-7EFB-F2B4-10DA7A772E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9AB8697-C1EE-6E9A-6550-ACA2C3AE663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70D4A6C-5B37-EDF5-6242-74B16127E96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440F587-93A3-E474-C0B0-883BB9DAFD85}"/>
              </a:ext>
            </a:extLst>
          </p:cNvPr>
          <p:cNvSpPr txBox="1"/>
          <p:nvPr/>
        </p:nvSpPr>
        <p:spPr>
          <a:xfrm>
            <a:off x="609441" y="4860334"/>
            <a:ext cx="11198542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gráfica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izquierda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representa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 deep waveguide y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aproximación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polynomial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segundo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orden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La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derecha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representa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mismo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pero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para la shallow.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Si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comparan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llegamos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la conclusion de que las waveguides shallow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tienen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efectivo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mayor que los del deep.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B92C76-6772-2E00-346F-532321092C04}"/>
              </a:ext>
            </a:extLst>
          </p:cNvPr>
          <p:cNvSpPr/>
          <p:nvPr/>
        </p:nvSpPr>
        <p:spPr>
          <a:xfrm>
            <a:off x="609441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886628E-6E58-1F7E-B6C6-432B9A228397}"/>
              </a:ext>
            </a:extLst>
          </p:cNvPr>
          <p:cNvSpPr/>
          <p:nvPr/>
        </p:nvSpPr>
        <p:spPr>
          <a:xfrm>
            <a:off x="6321424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F38E924-A0E7-A039-C837-916BA77FE89B}"/>
              </a:ext>
            </a:extLst>
          </p:cNvPr>
          <p:cNvSpPr txBox="1"/>
          <p:nvPr/>
        </p:nvSpPr>
        <p:spPr>
          <a:xfrm>
            <a:off x="6347361" y="4498712"/>
            <a:ext cx="5486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slab: 150nm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0252CE5-9DD1-4F70-B56F-BEE75408AF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4840" y="1509426"/>
            <a:ext cx="4195919" cy="315892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33992A7-8F81-4938-8401-71E92F5BF4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2875" y="1491902"/>
            <a:ext cx="4283649" cy="3212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54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4400D0B-0A00-4C58-9A9F-F870E590AA9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0DDFA2E-497F-4050-AF54-5A6E9B79634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6</a:t>
            </a:fld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16">
                <a:extLst>
                  <a:ext uri="{FF2B5EF4-FFF2-40B4-BE49-F238E27FC236}">
                    <a16:creationId xmlns:a16="http://schemas.microsoft.com/office/drawing/2014/main" id="{F276E09C-BE07-4C31-B8E0-54291C701E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5800" y="408883"/>
                <a:ext cx="10994410" cy="107125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>
                <a:lvl1pPr>
                  <a:defRPr sz="2000" b="1" i="0">
                    <a:solidFill>
                      <a:schemeClr val="tx1"/>
                    </a:solidFill>
                    <a:latin typeface="Calibri"/>
                    <a:ea typeface="+mj-ea"/>
                    <a:cs typeface="Calibri"/>
                  </a:defRPr>
                </a:lvl1pPr>
              </a:lstStyle>
              <a:p>
                <a:pPr marL="12700">
                  <a:spcBef>
                    <a:spcPts val="100"/>
                  </a:spcBef>
                </a:pPr>
                <a:r>
                  <a:rPr lang="en-US" sz="2500" kern="0" dirty="0"/>
                  <a:t>Learning outcome #3 – Waveguide compact model</a:t>
                </a:r>
                <a:br>
                  <a:rPr lang="en-US" sz="2500" kern="0" spc="-5" dirty="0">
                    <a:latin typeface="+mj-lt"/>
                    <a:cs typeface="Lucida Sans"/>
                  </a:rPr>
                </a:br>
                <a:r>
                  <a:rPr lang="en-US" b="0" kern="0" dirty="0"/>
                  <a:t>Let’s model the waveguide using a second order polynomial: </a:t>
                </a:r>
                <a:br>
                  <a:rPr lang="en-US" b="0" kern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kern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kern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kern="0" smtClean="0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d>
                        <m:dPr>
                          <m:ctrlPr>
                            <a:rPr lang="es-ES" b="0" i="1" kern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kern="0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s-ES" b="0" i="1" kern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0" i="1" kern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kern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kern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kern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kern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kern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kern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s-ES" b="0" i="1" kern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kern="0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s-ES" b="0" i="1" kern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b="0" i="1" kern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kern="0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s-ES" b="0" i="1" kern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s-ES" b="0" i="1" kern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b="0" i="1" kern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kern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s-ES" b="0" i="1" kern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s-ES" b="0" i="1" kern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ES" b="0" i="1" kern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b="0" i="1" kern="0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s-ES" b="0" i="1" kern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s-ES" b="0" i="1" kern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kern="0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s-ES" b="0" i="1" kern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s-ES" b="0" i="1" kern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>
                  <a:rPr lang="en-US" b="0" kern="0" dirty="0"/>
                </a:br>
                <a:endParaRPr lang="en-US" sz="2500" b="0" kern="0" dirty="0">
                  <a:latin typeface="+mj-lt"/>
                  <a:cs typeface="Lucida Sans"/>
                </a:endParaRPr>
              </a:p>
            </p:txBody>
          </p:sp>
        </mc:Choice>
        <mc:Fallback>
          <p:sp>
            <p:nvSpPr>
              <p:cNvPr id="6" name="object 16">
                <a:extLst>
                  <a:ext uri="{FF2B5EF4-FFF2-40B4-BE49-F238E27FC236}">
                    <a16:creationId xmlns:a16="http://schemas.microsoft.com/office/drawing/2014/main" id="{F276E09C-BE07-4C31-B8E0-54291C701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408883"/>
                <a:ext cx="10994410" cy="1071255"/>
              </a:xfrm>
              <a:prstGeom prst="rect">
                <a:avLst/>
              </a:prstGeom>
              <a:blipFill>
                <a:blip r:embed="rId2"/>
                <a:stretch>
                  <a:fillRect l="-1664" t="-7386" b="-454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F83AB108-A860-4D1D-A71F-2BC0DC8E78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2740"/>
              </p:ext>
            </p:extLst>
          </p:nvPr>
        </p:nvGraphicFramePr>
        <p:xfrm>
          <a:off x="2032000" y="1932214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10841378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60961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7742800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509740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DEEP WAVEGUIDE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N_eff</a:t>
                      </a:r>
                      <a:r>
                        <a:rPr lang="es-ES" dirty="0"/>
                        <a:t>(lambda0)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401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1.9399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-1.0059e-18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1.6049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2033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1.7721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-1.5895e-18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1.5272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500358"/>
                  </a:ext>
                </a:extLst>
              </a:tr>
            </a:tbl>
          </a:graphicData>
        </a:graphic>
      </p:graphicFrame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3F089643-136F-4A62-8A09-4CDD1DC883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358208"/>
              </p:ext>
            </p:extLst>
          </p:nvPr>
        </p:nvGraphicFramePr>
        <p:xfrm>
          <a:off x="2032000" y="3521225"/>
          <a:ext cx="812800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36661417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8579156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3133743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54271922"/>
                    </a:ext>
                  </a:extLst>
                </a:gridCol>
              </a:tblGrid>
              <a:tr h="639536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SHALLOW WAVEGUIDE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N_eff</a:t>
                      </a:r>
                      <a:r>
                        <a:rPr lang="es-ES" dirty="0"/>
                        <a:t>(lambda0)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902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1.9157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-9.8885e-19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1.6241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9021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1.7475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-1.5296e-18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1.5419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611089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B97EA8D2-75E0-4224-8EC7-194349EA11E6}"/>
              </a:ext>
            </a:extLst>
          </p:cNvPr>
          <p:cNvSpPr txBox="1"/>
          <p:nvPr/>
        </p:nvSpPr>
        <p:spPr>
          <a:xfrm>
            <a:off x="533804" y="5379476"/>
            <a:ext cx="111243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Mirando las tablas, se obtienen valores de ng bastantes parecidos a 2 para los casos TE y a 1.8 para los casos TM, </a:t>
            </a:r>
          </a:p>
          <a:p>
            <a:r>
              <a:rPr lang="es-ES" dirty="0"/>
              <a:t>obtenemos valores de dispersión negativas ya que a medida que aumentamos la longitud de onda disminuye el </a:t>
            </a:r>
            <a:r>
              <a:rPr lang="es-ES" dirty="0" err="1"/>
              <a:t>n_eff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18972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34E70-43B1-3881-1771-20FB43584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42C31CE-19F0-B995-0997-9A2D6A879B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Bend waveguide radius vs. loss – deep</a:t>
            </a:r>
            <a:br>
              <a:rPr lang="en-US" sz="2500" dirty="0"/>
            </a:br>
            <a:r>
              <a:rPr lang="en-US" b="0" dirty="0"/>
              <a:t>Find  neff_TE0 for </a:t>
            </a:r>
            <a:r>
              <a:rPr lang="en-US" b="0" dirty="0" err="1"/>
              <a:t>wvl</a:t>
            </a:r>
            <a:r>
              <a:rPr lang="en-US" b="0" dirty="0"/>
              <a:t> 1.55 µm, width 1.0 µm for R=25,50,75,100, 125,150 µm</a:t>
            </a:r>
            <a:br>
              <a:rPr lang="en-US" sz="2500" dirty="0"/>
            </a:b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D688A609-F3DC-EE34-C536-683E70F32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B6C672C6-89D4-7E67-2B94-811D081786A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7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A1F4313-D710-7A3E-7A8F-EB77DEE3C1A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1.0. WAVEGUIDES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DE3A197-9508-F9F1-1FEB-FF883D78C151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safe radius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cuando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temenos una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pérdidas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totales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debajo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0.1 dB/90º,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valor de R de 25 no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cumple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condición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pero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sin embargo los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otros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valores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quie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cumplen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safe radius.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09FBBBB-69CA-B7E5-7176-8227F2788CF5}"/>
                  </a:ext>
                </a:extLst>
              </p:cNvPr>
              <p:cNvSpPr txBox="1"/>
              <p:nvPr/>
            </p:nvSpPr>
            <p:spPr>
              <a:xfrm>
                <a:off x="9941529" y="4179383"/>
                <a:ext cx="1856534" cy="439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["/>
                        <m:endChr m:val="]"/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𝑑𝐵</m:t>
                            </m:r>
                          </m:num>
                          <m:den>
                            <m:r>
                              <a:rPr lang="es-ES" sz="1800" b="0" i="1" smtClean="0">
                                <a:latin typeface="Cambria Math" panose="02040503050406030204" pitchFamily="18" charset="0"/>
                              </a:rPr>
                              <m:t>90</m:t>
                            </m:r>
                            <m:r>
                              <a:rPr lang="es-E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</m:t>
                            </m:r>
                          </m:den>
                        </m:f>
                      </m:e>
                    </m:d>
                    <m:r>
                      <a:rPr lang="es-ES" sz="1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" sz="18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sz="1800" b="0" i="0" smtClean="0">
                        <a:latin typeface="Cambria Math" panose="02040503050406030204" pitchFamily="18" charset="0"/>
                      </a:rPr>
                      <m:t>R</m:t>
                    </m:r>
                    <m:f>
                      <m:f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ES" sz="1800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["/>
                        <m:endChr m:val="]"/>
                        <m:ctrlPr>
                          <a:rPr lang="es-E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𝑑𝐵</m:t>
                            </m:r>
                          </m:num>
                          <m:den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µ</m:t>
                            </m:r>
                            <m:r>
                              <a:rPr lang="es-ES" sz="1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09FBBBB-69CA-B7E5-7176-8227F2788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1529" y="4179383"/>
                <a:ext cx="1856534" cy="439608"/>
              </a:xfrm>
              <a:prstGeom prst="rect">
                <a:avLst/>
              </a:prstGeom>
              <a:blipFill>
                <a:blip r:embed="rId5"/>
                <a:stretch>
                  <a:fillRect l="-3289" b="-1388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ángulo 6">
            <a:extLst>
              <a:ext uri="{FF2B5EF4-FFF2-40B4-BE49-F238E27FC236}">
                <a16:creationId xmlns:a16="http://schemas.microsoft.com/office/drawing/2014/main" id="{B5FE8755-B0BF-14B7-64E6-4BBB2560B9A6}"/>
              </a:ext>
            </a:extLst>
          </p:cNvPr>
          <p:cNvSpPr/>
          <p:nvPr/>
        </p:nvSpPr>
        <p:spPr>
          <a:xfrm>
            <a:off x="609441" y="1418373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5BE8F0A2-F3DC-4DA1-9EA2-B6253CA385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8952" y="1522877"/>
            <a:ext cx="3896265" cy="307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438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8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946</TotalTime>
  <Words>625</Words>
  <Application>Microsoft Office PowerPoint</Application>
  <PresentationFormat>Panorámica</PresentationFormat>
  <Paragraphs>96</Paragraphs>
  <Slides>8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5" baseType="lpstr">
      <vt:lpstr>Aptos</vt:lpstr>
      <vt:lpstr>Arial</vt:lpstr>
      <vt:lpstr>Calibri</vt:lpstr>
      <vt:lpstr>Cambria Math</vt:lpstr>
      <vt:lpstr>Lucida Sans</vt:lpstr>
      <vt:lpstr>Times New Roman</vt:lpstr>
      <vt:lpstr>Office Theme</vt:lpstr>
      <vt:lpstr>Presentación de PowerPoint</vt:lpstr>
      <vt:lpstr>Instructions General</vt:lpstr>
      <vt:lpstr>Learning outcome #1 – Convergence tests DE waveguide, w = 1.2 µm, neff_TE0, wvl 1.55 µm. </vt:lpstr>
      <vt:lpstr>Learning outcome #2 – Width dependence Width 0.6 - 1.6 µm (step 0.1 µm) – Wavelength 1.55 µm </vt:lpstr>
      <vt:lpstr>Learning outcome #3 – Waveguide compact model Let’s model the waveguide using a second order polynomial:  n_eff (λ)=n_1+n_2 (λ-λ_0 )+n_3 (λ-λ_0 )^2 </vt:lpstr>
      <vt:lpstr>Presentación de PowerPoint</vt:lpstr>
      <vt:lpstr>Learning outcome #4 – Bend waveguide radius vs. loss – deep Find  neff_TE0 for wvl 1.55 µm, width 1.0 µm for R=25,50,75,100, 125,150 µm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cfp</cp:lastModifiedBy>
  <cp:revision>16</cp:revision>
  <dcterms:created xsi:type="dcterms:W3CDTF">2025-01-27T02:46:57Z</dcterms:created>
  <dcterms:modified xsi:type="dcterms:W3CDTF">2026-02-16T16:06:12Z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